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Generated hero illustration created with OpenAI image generation for this presentation.
- Local performance figures come from the accompanying run_experiments.py execution on scikit-learn digits.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Goodfellow, Shlens, and Szegedy, "Explaining and Harnessing Adversarial Examples," arXiv:1412.6572.
- Madry et al., "Towards Deep Learning Models Resistant to Adversarial Attacks," arXiv:1706.06083.
- Plot on this slide is local experimental output generated from run_experiments.py.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scikit-learn digits dataset documentation: https://scikit-learn.org/stable/modules/generated/sklearn.datasets.load_digits.html
- MNIST dataset summary: https://systemds.apache.org/datasets/mnist
- CIFAR-10 official dataset page: https://www.cs.toronto.edu/~kriz/cifar.html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Goodfellow, Shlens, and Szegedy, "Explaining and Harnessing Adversarial Examples," arXiv:1412.6572.
- Madry et al., "Towards Deep Learning Models Resistant to Adversarial Attacks," arXiv:1706.06083.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Madry et al., "Towards Deep Learning Models Resistant to Adversarial Attacks," arXiv:1706.06083.
- Model architecture and defense setup on this slide are local project design choices implemented in run_experiments.py.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Both charts are local experimental outputs generated from run_experiments.py using the scikit-learn digits benchmark.
- Robust-optimization interpretation is grounded in Madry et al., arXiv:1706.06083.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Plot and metrics are local experimental outputs generated from run_experiments.py.
- PGD interpretation grounded in Madry et al., "Towards Deep Learning Models Resistant to Adversarial Attacks," arXiv:1706.06083.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Figure is a local experimental output generated from run_experiments.py using the scikit-learn digits benchmark.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Confusion-matrix comparison is a local experimental output generated from run_experiments.py.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Generated comparative illustration created with OpenAI image generation for this presentation.
- MNIST dataset summary: https://systemds.apache.org/datasets/mnist
- CIFAR-10 official dataset page: https://www.cs.toronto.edu/~kriz/cifar.html
- TRADES paper: Zhang et al., "Theoretically Principled Trade-off between Robustness and Accuracy," arXiv:1901.08573.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Closing claims synthesize local experimental outputs and the cited adversarial-robustness literature: Goodfellow et al. (FGSM), Madry et al. (PGD/robust optimization), and Zhang et al. (TRADES / robustness-accuracy trade-off).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Neural Networks (M729-12)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61120" y="647395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Adversarial Robustness Project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0" y="457200"/>
            <a:ext cx="4572000" cy="5303520"/>
          </a:xfrm>
          <a:prstGeom prst="roundRect">
            <a:avLst>
              <a:gd name="adj" fmla="val 2400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pic>
        <p:nvPicPr>
          <p:cNvPr id="4" name="Image 0" descr="/mnt/data/a_set_of_comparative_adversarial_robustness_studie.png">    </p:cNvPr>
          <p:cNvPicPr>
            <a:picLocks noChangeAspect="1"/>
          </p:cNvPicPr>
          <p:nvPr/>
        </p:nvPicPr>
        <p:blipFill>
          <a:blip r:embed="rId1"/>
          <a:srcRect l="21480" r="21480" t="0" b="0"/>
          <a:stretch/>
        </p:blipFill>
        <p:spPr>
          <a:xfrm>
            <a:off x="7159752" y="576072"/>
            <a:ext cx="4334256" cy="50657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91440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Evaluating and Improving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Adversarial Robustness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Neural Networks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13232" y="288036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reproducible handwritten-digit study with a transfer protocol for MNIST and CIFAR-10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13232" y="3794760"/>
            <a:ext cx="91440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3931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+ Applied Project for presentation before the graduate cohort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3232" y="45720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empirical result: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baseline 96.67% -&gt; 0.28% under PGD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Adversarial training restores 30.28% robust accuracy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problem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is not enough when a model can be broken on demand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Adversarial examples are not random noise. They are gradient-aligned perturbations crafted to push an otherwise accurate classifier across a decision boundary.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85800" y="265176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makes robustness a neural-networks question, not only a cybersecurity question: it is about loss geometry, feature fragility, and optimization under worst-case stress.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45902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D3EE"/>
                </a:solidFill>
              </a:rPr>
              <a:t>96.67%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68096" y="51023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clean baseline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14600" y="45902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D3EE"/>
                </a:solidFill>
              </a:rPr>
              <a:t>0.28%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32888" y="51023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baseline under PGD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45902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D3EE"/>
                </a:solidFill>
              </a:rPr>
              <a:t>30.28%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90288" y="510235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PGD after defense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48272" y="1234440"/>
            <a:ext cx="4590288" cy="4846320"/>
          </a:xfrm>
          <a:prstGeom prst="roundRect">
            <a:avLst>
              <a:gd name="adj" fmla="val 239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/mnt/data/elite_project/attack_i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2189988"/>
            <a:ext cx="4160520" cy="24963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95160" y="54681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Robustness curve from the local experiment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 narrative: train the model, break it, explain the failure, then repair part of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8288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93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Benchmark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87552" y="2359152"/>
            <a:ext cx="1499616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542032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Local reproduction on scikit-learn digits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Target extension: MNIST + CIFAR-10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79192" y="2679192"/>
            <a:ext cx="201168" cy="146304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1828800"/>
            <a:ext cx="18288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63240" y="1993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Baseline model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090672" y="2359152"/>
            <a:ext cx="1499616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44952" y="2542032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MLP with ReLU, dropout, Adam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20 epochs, clean training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82312" y="2679192"/>
            <a:ext cx="201168" cy="146304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74920" y="1828800"/>
            <a:ext cx="18288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12080" y="1993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Adversarial stress test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239512" y="2359152"/>
            <a:ext cx="1499616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93792" y="2542032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FGSM and PGD under an $\ell_infty$ threat model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31152" y="2679192"/>
            <a:ext cx="201168" cy="146304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1828800"/>
            <a:ext cx="18288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60920" y="1993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Defense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388352" y="2359152"/>
            <a:ext cx="1499616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42632" y="2542032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FGSM-based adversarial training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after a short clean warm-up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079992" y="2679192"/>
            <a:ext cx="201168" cy="146304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72600" y="1828800"/>
            <a:ext cx="1828800" cy="205740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509760" y="1993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Evaluation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537192" y="2359152"/>
            <a:ext cx="1499616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91472" y="2542032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Clean accuracy, robust accuracy,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visual examples, confusion shift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" y="47548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dual-benchmark plan is strong: MNIST provides interpretability; CIFAR-10 exposes whether robustness survives in a harder, more realistic visual regime.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841248" y="5532120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reproducibility note: the execution environment allowed local reproduction on a handwritten-digit proxy, while the same pipeline is already specified for direct transfer to MNIST and CIFAR-10.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Threat model and attack equations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White-box, first-order adversary with bounded perturbation budget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48006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FGSM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840" y="2057400"/>
            <a:ext cx="402336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7889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One gradient step. Fast, interpretable, ideal for showing how a classifier can be fooled almost instantly.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PGD</a:t>
            </a:r>
            <a:endParaRPr lang="en-US" sz="2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4096512"/>
            <a:ext cx="4160520" cy="6583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49377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Iterative and much stronger. In practice it reveals worst-case local boundary weakness more faithfully than FGSM.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852160" y="1234440"/>
            <a:ext cx="5486400" cy="4892040"/>
          </a:xfrm>
          <a:prstGeom prst="roundRect">
            <a:avLst>
              <a:gd name="adj" fmla="val 224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217920" y="1600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Operational reading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263640" y="2057400"/>
            <a:ext cx="4389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1. Compute how the loss changes with respect to the input.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2. Move the input in the direction that maximally increases loss.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3. Keep the perturbation small enough to remain visually subtle.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4. Measure whether the prediction boundary collapses.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6236208" y="4160520"/>
            <a:ext cx="443484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63640" y="4370832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In this project, PGD is the decisive test because it transforms a nearly perfect classifier into a near-random one.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and defense mechanism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architecture, strong enough to expose the robustness problem clearly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3977640" cy="48920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Baseline architecture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234440" y="214884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22402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Input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697480" y="224942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64 pixels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87168" y="2697480"/>
            <a:ext cx="219456" cy="109728"/>
          </a:xfrm>
          <a:prstGeom prst="chevron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2862072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9535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Dense + ReLU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97480" y="29626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128 units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87168" y="3410712"/>
            <a:ext cx="219456" cy="109728"/>
          </a:xfrm>
          <a:prstGeom prst="chevron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34440" y="3575304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366674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Dropout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97480" y="367588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p = 0.20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487168" y="4123944"/>
            <a:ext cx="219456" cy="109728"/>
          </a:xfrm>
          <a:prstGeom prst="chevron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34440" y="4288536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43799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Dense + ReLU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697480" y="43891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64 units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487168" y="4837176"/>
            <a:ext cx="219456" cy="109728"/>
          </a:xfrm>
          <a:prstGeom prst="chevron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34440" y="5001768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CFF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50932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Output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697480" y="510235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10 classes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166360" y="1325880"/>
            <a:ext cx="5486400" cy="4892040"/>
          </a:xfrm>
          <a:prstGeom prst="roundRect">
            <a:avLst>
              <a:gd name="adj" fmla="val 224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0" y="1664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Defense: adversarial training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86400" y="21488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</a:rPr>
              <a:t>Mini-batch loop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0" y="2395728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8FAFC"/>
                </a:solidFill>
              </a:rPr>
              <a:t>Clean batch -&gt; generate FGSM variants -&gt; concatenate clean and adversarial samples -&gt; optimize the same classifier on both distributions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5504688" y="3584448"/>
            <a:ext cx="45720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39502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</a:rPr>
              <a:t>Why this defense was chosen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86400" y="42062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It is the most convincing student-project defense because it changes the training objective itself, not just the evaluation stage.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86400" y="50474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</a:rPr>
              <a:t>Trade-off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86400" y="5303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Slightly harder optimization, slightly lower clean accuracy, but far higher resistance under attack.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dynamics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 learning converges more slowly, but it stays stable and preserves clean performance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72200" y="1325880"/>
            <a:ext cx="52578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mnt/data/elite_project/loss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65376"/>
            <a:ext cx="4983480" cy="2990088"/>
          </a:xfrm>
          <a:prstGeom prst="rect">
            <a:avLst/>
          </a:prstGeom>
        </p:spPr>
      </p:pic>
      <p:pic>
        <p:nvPicPr>
          <p:cNvPr id="7" name="Image 1" descr="/mnt/data/elite_project/accuracy_curv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92808"/>
            <a:ext cx="4892040" cy="29352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697480" y="51480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Loss curves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183880" y="51480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Validation accuracy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86384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Interpretation: adversarial training raises the optimization burden, but it does not destroy clean-data learning. This is exactly the type of trade-off expected in robust optimization.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result: the baseline collapses under attack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defense does not make the model invincible; it makes the model materially harder to break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6492240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mnt/data/elite_project/attack_i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15084"/>
            <a:ext cx="6080760" cy="36484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389888"/>
            <a:ext cx="3749040" cy="2286000"/>
          </a:xfrm>
          <a:prstGeom prst="roundRect">
            <a:avLst>
              <a:gd name="adj" fmla="val 4800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818120" y="16642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Headline metrics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818120" y="20299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Baseline clean: 96.67%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Baseline under FGSM: 21.11%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Baseline under PGD: 0.28%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498080" y="3858768"/>
            <a:ext cx="3749040" cy="182880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0" y="41605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After adversarial training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790688" y="4526280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</a:rPr>
              <a:t>Clean: 96.39%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</a:rPr>
              <a:t>FGSM: 58.89%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</a:rPr>
              <a:t>PGD: 30.28%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543800" y="589788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Key sentence for the oral defense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543800" y="608990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8FAFC"/>
                </a:solidFill>
              </a:rPr>
              <a:t>"PGD is not just stronger than FGSM; it exposes the worst-case local vulnerability of the decision boundary."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Qualitative adversarial evidence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failure is visible: tiny perturbations can redirect the prediction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097280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mnt/data/elite_project/adversarial_exam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6457" y="1444752"/>
            <a:ext cx="4520045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897880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this persuasive in a live presentation is that the audience can see the mechanism. The model is correct on the original sample, wrong after a carefully chosen perturbation, and often partially recovered after adversarial training.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Failure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PGD, the error pattern does not just grow; it diffuses across the label space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49808" y="1325880"/>
            <a:ext cx="544068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mnt/data/elite_project/confusion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490597"/>
            <a:ext cx="4983480" cy="22425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37960" y="1325880"/>
            <a:ext cx="4892040" cy="4617720"/>
          </a:xfrm>
          <a:prstGeom prst="roundRect">
            <a:avLst>
              <a:gd name="adj" fmla="val 237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0" y="16642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What the confusion shift tells us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858000" y="2103120"/>
            <a:ext cx="4069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</a:rPr>
              <a:t>• The clean classifier is strongly diagonal: representation and decision rule are aligned.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</a:rPr>
              <a:t>• Under PGD, diagonal dominance largely disappears.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</a:rPr>
              <a:t>• The attack therefore changes the geometry of class assignment, not just the confidence score.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</a:rPr>
              <a:t>• This is why robustness should be reported explicitly, not hidden inside a single clean-accuracy number.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876288" y="4709160"/>
            <a:ext cx="393192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76288" y="49194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Oral takeaway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76288" y="51480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</a:rPr>
              <a:t>The model did not fail randomly; it failed systematically.</a:t>
            </a:r>
            <a:endParaRPr lang="en-US" sz="2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this becomes a full MNIST + CIFAR-10 study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project already contains the transfer logic needed for a stronger benchmark paper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13232" y="1280160"/>
            <a:ext cx="5074920" cy="51663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mnt/data/a_set_of_high_quality_adversarial_attack_compariso.png">    </p:cNvPr>
          <p:cNvPicPr>
            <a:picLocks noChangeAspect="1"/>
          </p:cNvPicPr>
          <p:nvPr/>
        </p:nvPicPr>
        <p:blipFill>
          <a:blip r:embed="rId1"/>
          <a:srcRect l="16667" r="16667" t="0" b="0"/>
          <a:stretch/>
        </p:blipFill>
        <p:spPr>
          <a:xfrm>
            <a:off x="914400" y="1481328"/>
            <a:ext cx="4709160" cy="4709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80760" y="1280160"/>
            <a:ext cx="5349240" cy="5166360"/>
          </a:xfrm>
          <a:prstGeom prst="roundRect">
            <a:avLst>
              <a:gd name="adj" fmla="val 2124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0" y="16459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Direct next steps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0" y="2029968"/>
            <a:ext cx="4434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1. Replace the local digit proxy with native MNIST tensors (28 x 28).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2. Move from the MLP to a CNN for MNIST and a deeper ResNet-style backbone for CIFAR-10.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3. Keep FGSM and PGD, then add TRADES as a stronger defense comparison.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4. Report clean accuracy and robust accuracy separately.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5. Use CIFAR-10 to test whether robustness generalizes to realistic color images.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0" y="48920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Benchmark facts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0" y="510235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MNIST: 60,000 train / 10,000 test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CIFAR-10: 50,000 train / 10,000 test, 10 classes, 32 x 32 color images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project proves and how to defend it academically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25880" y="14630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neural network can be highly accurate on clean inputs and still be severely non-robust.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</a:rPr>
              <a:t>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25880" y="254203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PGD is the critical stress test because it better exposes worst-case boundary fragility than one-step attacks.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</a:rPr>
              <a:t>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25880" y="36576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Adversarial training meaningfully improves robustness while preserving most clean accuracy, which makes robustness a design objective rather than an afterthought.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96112" y="4983480"/>
            <a:ext cx="101498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52303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Best final sentence to say aloud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54864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8FAFC"/>
                </a:solidFill>
              </a:rPr>
              <a:t>"My model did not simply classify digits; it demonstrated how reliability changes when accuracy is forced to survive under attack."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Adversarial Robustness Project</dc:title>
  <dc:subject>Adversarial robustness project</dc:subject>
  <dc:creator>OpenAI</dc:creator>
  <cp:lastModifiedBy>OpenAI</cp:lastModifiedBy>
  <cp:revision>1</cp:revision>
  <dcterms:created xsi:type="dcterms:W3CDTF">2026-04-19T09:49:18Z</dcterms:created>
  <dcterms:modified xsi:type="dcterms:W3CDTF">2026-04-19T09:49:18Z</dcterms:modified>
</cp:coreProperties>
</file>